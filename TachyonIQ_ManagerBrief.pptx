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 — introduce TachyonIQ as the platform we are building to unlock data access for business users without relying on engineering.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pain points are universal in enterprises. TachyonIQ addresses all three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core value proposition. We are building an analytical reasoning engine — not a dashboarding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 is fully deterministic and auditable. The AI reasons but doesn't execute — a human-verifiable chain from question to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five innovations address specific gaps in every existing BI/analytics tool on the market — evidence traceability, true analytical depth, and cost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is baked in at the architecture level — not bolted on. The SQLValidator invariant is the single most important security guarantee in the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support all major cloud data warehouses out of the box, plus a fully automated onboarding pipeline that creates the semantic layer without manual YAML authoring.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 and P1 are complete and running in production. P2 is actively in development. P3-P7 are documented in the V2 Architecture doc and ready for implementation after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TachyonIQ is the only platform in this space that combines a full evidence graph, multi-database support, a deterministic statistics engine, and automatic semantic layer onboarding.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five principles guided every architectural decision in the V2 design. They are the engineering contract between our team and our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P2 is underway and will be done in 4 weeks. We are asking for approval to begin P3, which implements the architectural core of TachyonIQ V2.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takeaways: (1) The platform works now. (2) The architecture is designed. (3) We need a green light on P3. The full architecture doc is available for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548640"/>
            <a:ext cx="3840480" cy="3840480"/>
          </a:xfrm>
          <a:prstGeom prst="ellipse">
            <a:avLst/>
          </a:prstGeom>
          <a:solidFill>
            <a:srgbClr val="172A44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731520"/>
            <a:ext cx="1828800" cy="1828800"/>
          </a:xfrm>
          <a:prstGeom prst="ellipse">
            <a:avLst/>
          </a:prstGeom>
          <a:solidFill>
            <a:srgbClr val="1E3455"/>
          </a:solidFill>
          <a:ln w="12700">
            <a:solidFill>
              <a:srgbClr val="1E34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3566160"/>
            <a:ext cx="822960" cy="822960"/>
          </a:xfrm>
          <a:prstGeom prst="ellipse">
            <a:avLst/>
          </a:prstGeom>
          <a:solidFill>
            <a:srgbClr val="172A44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4114800"/>
            <a:ext cx="457200" cy="457200"/>
          </a:xfrm>
          <a:prstGeom prst="ellipse">
            <a:avLst/>
          </a:prstGeom>
          <a:solidFill>
            <a:srgbClr val="172A44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43000"/>
            <a:ext cx="1828800" cy="310896"/>
          </a:xfrm>
          <a:prstGeom prst="roundRect">
            <a:avLst>
              <a:gd name="adj" fmla="val 20588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1430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BRIEFING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536192"/>
            <a:ext cx="7772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TachyonIQ</a:t>
            </a:r>
            <a:endParaRPr lang="en-US" sz="6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907792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Analytics Platform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38144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data anything — get statistically validated, evidence-backed answers in seconds.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681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Shivam Kumar  ·  Tachyontech  ·  September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37744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C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getting answers from data is slow, opaque, and gatekept.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38912" y="1261872"/>
            <a:ext cx="2651760" cy="35661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8912" y="1261872"/>
            <a:ext cx="2651760" cy="256032"/>
          </a:xfrm>
          <a:prstGeom prst="roundRect">
            <a:avLst>
              <a:gd name="adj" fmla="val 50000"/>
            </a:avLst>
          </a:prstGeom>
          <a:solidFill>
            <a:srgbClr val="3B8BEB"/>
          </a:solidFill>
          <a:ln w="12700">
            <a:solidFill>
              <a:srgbClr val="3B8B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389888"/>
            <a:ext cx="2651760" cy="128016"/>
          </a:xfrm>
          <a:prstGeom prst="rect">
            <a:avLst/>
          </a:prstGeom>
          <a:solidFill>
            <a:srgbClr val="3B8BEB"/>
          </a:solidFill>
          <a:ln w="12700">
            <a:solidFill>
              <a:srgbClr val="3B8B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" y="1627632"/>
            <a:ext cx="603504" cy="603504"/>
          </a:xfrm>
          <a:prstGeom prst="ellipse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94944" y="162763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⏱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500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Days, Not Minutes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779776"/>
            <a:ext cx="23042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business questions take 3–5 days through analyst queues. By the time data arrives, decisions are already made without it.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73552" y="1261872"/>
            <a:ext cx="2651760" cy="35661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73552" y="1261872"/>
            <a:ext cx="2651760" cy="256032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73552" y="1389888"/>
            <a:ext cx="2651760" cy="12801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9584" y="1627632"/>
            <a:ext cx="603504" cy="603504"/>
          </a:xfrm>
          <a:prstGeom prst="ellipse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29584" y="162763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23500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Locked Away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2779776"/>
            <a:ext cx="23042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users depend entirely on engineers and analysts to write SQL queries. Analysts become bottlenecks — not force multipliers.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08192" y="1261872"/>
            <a:ext cx="2651760" cy="35661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08192" y="1261872"/>
            <a:ext cx="2651760" cy="256032"/>
          </a:xfrm>
          <a:prstGeom prst="roundRect">
            <a:avLst>
              <a:gd name="adj" fmla="val 50000"/>
            </a:avLst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08192" y="1389888"/>
            <a:ext cx="2651760" cy="128016"/>
          </a:xfrm>
          <a:prstGeom prst="rect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64224" y="1627632"/>
            <a:ext cx="603504" cy="603504"/>
          </a:xfrm>
          <a:prstGeom prst="ellipse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64224" y="162763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🤷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23500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Explainability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2779776"/>
            <a:ext cx="23042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show numbers with no audit trail. Teams can't trust results, reproduce them, or understand how they were calculated.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4572000" cy="4572000"/>
          </a:xfrm>
          <a:prstGeom prst="ellipse">
            <a:avLst/>
          </a:prstGeom>
          <a:solidFill>
            <a:srgbClr val="172A44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37744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TachyonIQ — a conversational analytics engine with full analytical depth and traceable evidence.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07008"/>
            <a:ext cx="8046720" cy="914400"/>
          </a:xfrm>
          <a:prstGeom prst="roundRect">
            <a:avLst>
              <a:gd name="adj" fmla="val 14000"/>
            </a:avLst>
          </a:prstGeom>
          <a:solidFill>
            <a:srgbClr val="172A44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07008"/>
            <a:ext cx="8046720" cy="914400"/>
          </a:xfrm>
          <a:prstGeom prst="rect">
            <a:avLst/>
          </a:prstGeom>
          <a:noFill/>
          <a:ln/>
        </p:spPr>
        <p:txBody>
          <a:bodyPr wrap="square" lIns="0" tIns="2540" rIns="254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"From natural language question to boardroom-ready answer — with a full audit trail."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04288"/>
            <a:ext cx="1920240" cy="475488"/>
          </a:xfrm>
          <a:prstGeom prst="roundRect">
            <a:avLst>
              <a:gd name="adj" fmla="val 13462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30428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Natural Language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2304288"/>
            <a:ext cx="1920240" cy="475488"/>
          </a:xfrm>
          <a:prstGeom prst="roundRect">
            <a:avLst>
              <a:gd name="adj" fmla="val 13462"/>
            </a:avLst>
          </a:prstGeom>
          <a:solidFill>
            <a:srgbClr val="3B8BEB"/>
          </a:solidFill>
          <a:ln w="12700">
            <a:solidFill>
              <a:srgbClr val="3B8B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0320" y="230428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Multi-Database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2304288"/>
            <a:ext cx="1920240" cy="475488"/>
          </a:xfrm>
          <a:prstGeom prst="roundRect">
            <a:avLst>
              <a:gd name="adj" fmla="val 1346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230428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Statistics Engine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583680" y="2304288"/>
            <a:ext cx="1920240" cy="475488"/>
          </a:xfrm>
          <a:prstGeom prst="roundRect">
            <a:avLst>
              <a:gd name="adj" fmla="val 13462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0" y="230428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Evidence Graph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299923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5s</a:t>
            </a:r>
            <a:endParaRPr lang="en-US" sz="38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36393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response time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651760" y="299923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6+</a:t>
            </a:r>
            <a:endParaRPr lang="en-US" sz="3800" dirty="0"/>
          </a:p>
        </p:txBody>
      </p:sp>
      <p:sp>
        <p:nvSpPr>
          <p:cNvPr id="18" name="Text 16"/>
          <p:cNvSpPr txBox="1"/>
          <p:nvPr/>
        </p:nvSpPr>
        <p:spPr>
          <a:xfrm>
            <a:off x="2651760" y="36393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supported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709160" y="299923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800" dirty="0"/>
          </a:p>
        </p:txBody>
      </p:sp>
      <p:sp>
        <p:nvSpPr>
          <p:cNvPr id="20" name="Text 18"/>
          <p:cNvSpPr txBox="1"/>
          <p:nvPr/>
        </p:nvSpPr>
        <p:spPr>
          <a:xfrm>
            <a:off x="4709160" y="36393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layers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299923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8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36393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AI tools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2971800"/>
            <a:ext cx="8046720" cy="36576"/>
          </a:xfrm>
          <a:prstGeom prst="rect">
            <a:avLst/>
          </a:prstGeom>
          <a:solidFill>
            <a:srgbClr val="1E3455"/>
          </a:solidFill>
          <a:ln w="12700">
            <a:solidFill>
              <a:srgbClr val="1E3455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37744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C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pipeline transforms any question into a validated, evidence-backed answer.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84048" y="1234440"/>
            <a:ext cx="265176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1417320"/>
            <a:ext cx="420624" cy="420624"/>
          </a:xfrm>
          <a:prstGeom prst="ellipse">
            <a:avLst/>
          </a:prstGeom>
          <a:solidFill>
            <a:srgbClr val="3B8BEB"/>
          </a:solidFill>
          <a:ln w="12700">
            <a:solidFill>
              <a:srgbClr val="3B8B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2648" y="1417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33856" y="14630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85216" y="1938528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Router classifies the query (Simple / Analytical / Complex) and assigns the right AI model, tools, and token budget.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72968" y="1234440"/>
            <a:ext cx="265176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01568" y="1417320"/>
            <a:ext cx="420624" cy="42062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01568" y="1417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922776" y="14630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374136" y="1938528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IR converts the question into a language-agnostic representation — metrics, dimensions, filters, time windows, statistical ops.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61888" y="1234440"/>
            <a:ext cx="2651760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0488" y="1417320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90488" y="1417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711696" y="14630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163056" y="1938528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specialized tools (SQL, Python, Stats, Forecast, Anomaly, RCA…) run inside a bounded investigation loop. The LLM reasons; it never executes raw SQL.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325880" y="3493008"/>
            <a:ext cx="265176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554480" y="3630168"/>
            <a:ext cx="420624" cy="42062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54480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075688" y="36758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527048" y="40690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validation layers: security, SQL syntax, semantic alignment, join safety, result shape, statistical quality, evidence sufficiency, reproducibility.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3493008"/>
            <a:ext cx="265176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3630168"/>
            <a:ext cx="420624" cy="420624"/>
          </a:xfrm>
          <a:prstGeom prst="ellipse">
            <a:avLst/>
          </a:prstGeom>
          <a:solidFill>
            <a:srgbClr val="F97066"/>
          </a:solidFill>
          <a:ln w="12700">
            <a:solidFill>
              <a:srgbClr val="F9706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00600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321808" y="36758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773168" y="40690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Critic scores answer quality. Evidence Graph traces every number to source tables. Viz Selector picks the right chart — deterministically.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172A44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37744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Technical Innovations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architectural decisions that set TachyonIQ apart from existing BI tools.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07008"/>
            <a:ext cx="3931920" cy="1828800"/>
          </a:xfrm>
          <a:prstGeom prst="roundRect">
            <a:avLst>
              <a:gd name="adj" fmla="val 7000"/>
            </a:avLst>
          </a:prstGeom>
          <a:solidFill>
            <a:srgbClr val="172A44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2648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161288" y="1408176"/>
            <a:ext cx="1417320" cy="274320"/>
          </a:xfrm>
          <a:prstGeom prst="roundRect">
            <a:avLst>
              <a:gd name="adj" fmla="val 23333"/>
            </a:avLst>
          </a:prstGeom>
          <a:solidFill>
            <a:srgbClr val="1E3455"/>
          </a:solidFill>
          <a:ln w="12700">
            <a:solidFill>
              <a:srgbClr val="1E34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61288" y="140817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Architecture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18928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IR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12648" y="225856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Language-agnostic intermediate representation. Instead of generating SQL directly, we model the analytical intent — metrics, dimensions, statistical ops — making the system database-independent.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207008"/>
            <a:ext cx="3931920" cy="1828800"/>
          </a:xfrm>
          <a:prstGeom prst="roundRect">
            <a:avLst>
              <a:gd name="adj" fmla="val 7000"/>
            </a:avLst>
          </a:prstGeom>
          <a:solidFill>
            <a:srgbClr val="172A44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73168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321808" y="1408176"/>
            <a:ext cx="1417320" cy="274320"/>
          </a:xfrm>
          <a:prstGeom prst="roundRect">
            <a:avLst>
              <a:gd name="adj" fmla="val 23333"/>
            </a:avLst>
          </a:prstGeom>
          <a:solidFill>
            <a:srgbClr val="1E3455"/>
          </a:solidFill>
          <a:ln w="12700">
            <a:solidFill>
              <a:srgbClr val="1E34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21808" y="140817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Audit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773168" y="18928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Graph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73168" y="225856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is traced through: Calculation → Statistical Test → SQL → Source Table → Database. Every answer is reproducible, auditable, and carries a confidence score.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200400"/>
            <a:ext cx="3931920" cy="1828800"/>
          </a:xfrm>
          <a:prstGeom prst="roundRect">
            <a:avLst>
              <a:gd name="adj" fmla="val 7000"/>
            </a:avLst>
          </a:prstGeom>
          <a:solidFill>
            <a:srgbClr val="172A44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2648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161288" y="3401568"/>
            <a:ext cx="1417320" cy="274320"/>
          </a:xfrm>
          <a:prstGeom prst="roundRect">
            <a:avLst>
              <a:gd name="adj" fmla="val 23333"/>
            </a:avLst>
          </a:prstGeom>
          <a:solidFill>
            <a:srgbClr val="1E3455"/>
          </a:solidFill>
          <a:ln w="12700">
            <a:solidFill>
              <a:srgbClr val="1E345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61288" y="34015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12648" y="3886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Router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12648" y="42519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classifies queries into 4 tiers and routes to the right model and budget. Simple queries use fast models. Complex investigations use advanced reasoning — cost-optimally.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3200400"/>
            <a:ext cx="3931920" cy="1828800"/>
          </a:xfrm>
          <a:prstGeom prst="roundRect">
            <a:avLst>
              <a:gd name="adj" fmla="val 7000"/>
            </a:avLst>
          </a:prstGeom>
          <a:solidFill>
            <a:srgbClr val="172A44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73168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5321808" y="3401568"/>
            <a:ext cx="1417320" cy="274320"/>
          </a:xfrm>
          <a:prstGeom prst="roundRect">
            <a:avLst>
              <a:gd name="adj" fmla="val 23333"/>
            </a:avLst>
          </a:prstGeom>
          <a:solidFill>
            <a:srgbClr val="1E3455"/>
          </a:solidFill>
          <a:ln w="12700">
            <a:solidFill>
              <a:srgbClr val="1E345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321808" y="34015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Depth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773168" y="3886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Engine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773168" y="42519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deterministic statistical layer. The AI selects the method; Python executes it. Supports hypothesis testing, confidence intervals, effect sizes, anomaly detection with adaptive thresholds.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37744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C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by Design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not a feature — it is a non-negotiable architectural invariant.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8321040" cy="1078992"/>
          </a:xfrm>
          <a:prstGeom prst="roundRect">
            <a:avLst>
              <a:gd name="adj" fmla="val 11864"/>
            </a:avLst>
          </a:prstGeom>
          <a:solidFill>
            <a:srgbClr val="FFF3C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618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CRITICAL INVARIANT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72768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SQLValidator.validate() runs inside the SQL repair loop before EVERY execution attempt. Security violations cause an immediate halt with no retry. This logic is never moved, bypassed, or delegated to the LLM.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2487168"/>
            <a:ext cx="397764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2743200"/>
            <a:ext cx="457200" cy="4572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🚫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197864" y="259689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Unrestricted SQL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97864" y="2944368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never executes raw SQL. All queries pass through a 9-rule AST-based validator before any execution.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17720" y="2487168"/>
            <a:ext cx="397764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2743200"/>
            <a:ext cx="457200" cy="4572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404104" y="259689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Isolation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04104" y="2944368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are never exposed in logs, prompts, generated SQL, API responses, or frontend state. Ever.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3657600"/>
            <a:ext cx="397764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3913632"/>
            <a:ext cx="457200" cy="4572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197864" y="376732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&amp; Column Security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97864" y="4114800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layer: JWT → user_id + role → ConnectionPolicy. RLS/CLS policies enforced at the semantic layer.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17720" y="3657600"/>
            <a:ext cx="397764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3913632"/>
            <a:ext cx="457200" cy="45720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0060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404104" y="376732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404104" y="4114800"/>
            <a:ext cx="3063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query, every validation result, every tool call is logged with structured JSON — reproducible and inspectable.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4114800"/>
            <a:ext cx="2286000" cy="2286000"/>
          </a:xfrm>
          <a:prstGeom prst="ellipse">
            <a:avLst/>
          </a:prstGeom>
          <a:solidFill>
            <a:srgbClr val="172A44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37744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Multi-Database Support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interface — any data warehouse or database. Automatic onboarding in minutes.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828800" cy="1024128"/>
          </a:xfrm>
          <a:prstGeom prst="roundRect">
            <a:avLst>
              <a:gd name="adj" fmla="val 12500"/>
            </a:avLst>
          </a:prstGeom>
          <a:solidFill>
            <a:srgbClr val="172A44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1828800" cy="201168"/>
          </a:xfrm>
          <a:prstGeom prst="roundRect">
            <a:avLst>
              <a:gd name="adj" fmla="val 63636"/>
            </a:avLst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44168"/>
            <a:ext cx="1828800" cy="91440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508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🐘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58191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1234440"/>
            <a:ext cx="1828800" cy="1024128"/>
          </a:xfrm>
          <a:prstGeom prst="roundRect">
            <a:avLst>
              <a:gd name="adj" fmla="val 12500"/>
            </a:avLst>
          </a:prstGeom>
          <a:solidFill>
            <a:srgbClr val="172A44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1234440"/>
            <a:ext cx="1828800" cy="201168"/>
          </a:xfrm>
          <a:prstGeom prst="roundRect">
            <a:avLst>
              <a:gd name="adj" fmla="val 63636"/>
            </a:avLst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1344168"/>
            <a:ext cx="1828800" cy="91440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60320" y="1508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❄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158191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80560" y="1234440"/>
            <a:ext cx="1828800" cy="1024128"/>
          </a:xfrm>
          <a:prstGeom prst="roundRect">
            <a:avLst>
              <a:gd name="adj" fmla="val 12500"/>
            </a:avLst>
          </a:prstGeom>
          <a:solidFill>
            <a:srgbClr val="172A44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1234440"/>
            <a:ext cx="1828800" cy="201168"/>
          </a:xfrm>
          <a:prstGeom prst="roundRect">
            <a:avLst>
              <a:gd name="adj" fmla="val 63636"/>
            </a:avLst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80560" y="1344168"/>
            <a:ext cx="1828800" cy="9144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0" y="1508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🔷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5074920" y="158191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404872"/>
            <a:ext cx="1828800" cy="1024128"/>
          </a:xfrm>
          <a:prstGeom prst="roundRect">
            <a:avLst>
              <a:gd name="adj" fmla="val 12500"/>
            </a:avLst>
          </a:prstGeom>
          <a:solidFill>
            <a:srgbClr val="172A44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404872"/>
            <a:ext cx="1828800" cy="201168"/>
          </a:xfrm>
          <a:prstGeom prst="roundRect">
            <a:avLst>
              <a:gd name="adj" fmla="val 63636"/>
            </a:avLst>
          </a:prstGeom>
          <a:solidFill>
            <a:srgbClr val="CC2529"/>
          </a:solidFill>
          <a:ln w="12700">
            <a:solidFill>
              <a:srgbClr val="CC252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514600"/>
            <a:ext cx="1828800" cy="91440"/>
          </a:xfrm>
          <a:prstGeom prst="rect">
            <a:avLst/>
          </a:prstGeom>
          <a:solidFill>
            <a:srgbClr val="CC2529"/>
          </a:solidFill>
          <a:ln w="12700">
            <a:solidFill>
              <a:srgbClr val="CC252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26791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🔴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275234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468880" y="2404872"/>
            <a:ext cx="1828800" cy="1024128"/>
          </a:xfrm>
          <a:prstGeom prst="roundRect">
            <a:avLst>
              <a:gd name="adj" fmla="val 12500"/>
            </a:avLst>
          </a:prstGeom>
          <a:solidFill>
            <a:srgbClr val="172A44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68880" y="2404872"/>
            <a:ext cx="1828800" cy="201168"/>
          </a:xfrm>
          <a:prstGeom prst="roundRect">
            <a:avLst>
              <a:gd name="adj" fmla="val 63636"/>
            </a:avLst>
          </a:prstGeom>
          <a:solidFill>
            <a:srgbClr val="FED533"/>
          </a:solidFill>
          <a:ln w="12700">
            <a:solidFill>
              <a:srgbClr val="FED5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68880" y="2514600"/>
            <a:ext cx="1828800" cy="91440"/>
          </a:xfrm>
          <a:prstGeom prst="rect">
            <a:avLst/>
          </a:prstGeom>
          <a:solidFill>
            <a:srgbClr val="FED533"/>
          </a:solidFill>
          <a:ln w="12700">
            <a:solidFill>
              <a:srgbClr val="FED5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560320" y="26791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🦆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3063240" y="275234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80560" y="2404872"/>
            <a:ext cx="1828800" cy="1024128"/>
          </a:xfrm>
          <a:prstGeom prst="roundRect">
            <a:avLst>
              <a:gd name="adj" fmla="val 12500"/>
            </a:avLst>
          </a:prstGeom>
          <a:solidFill>
            <a:srgbClr val="172A44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80560" y="2404872"/>
            <a:ext cx="1828800" cy="201168"/>
          </a:xfrm>
          <a:prstGeom prst="roundRect">
            <a:avLst>
              <a:gd name="adj" fmla="val 63636"/>
            </a:avLst>
          </a:prstGeom>
          <a:solidFill>
            <a:srgbClr val="00618A"/>
          </a:solidFill>
          <a:ln w="12700">
            <a:solidFill>
              <a:srgbClr val="00618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80560" y="2514600"/>
            <a:ext cx="1828800" cy="91440"/>
          </a:xfrm>
          <a:prstGeom prst="rect">
            <a:avLst/>
          </a:prstGeom>
          <a:solidFill>
            <a:srgbClr val="00618A"/>
          </a:solidFill>
          <a:ln w="12700">
            <a:solidFill>
              <a:srgbClr val="00618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72000" y="26791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34" name="Text 32"/>
          <p:cNvSpPr txBox="1"/>
          <p:nvPr/>
        </p:nvSpPr>
        <p:spPr>
          <a:xfrm>
            <a:off x="5074920" y="275234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MSSQL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0" y="1234440"/>
            <a:ext cx="2468880" cy="3584448"/>
          </a:xfrm>
          <a:prstGeom prst="roundRect">
            <a:avLst>
              <a:gd name="adj" fmla="val 5185"/>
            </a:avLst>
          </a:prstGeom>
          <a:solidFill>
            <a:srgbClr val="172A44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73952" y="133502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Auto-Onboarding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473952" y="168249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 database and TachyonIQ automatically: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510528" y="2176272"/>
            <a:ext cx="146304" cy="14630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748272" y="2130552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7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Introspects schema &amp; data types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510528" y="2505456"/>
            <a:ext cx="146304" cy="14630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748272" y="2459736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7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column statistics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510528" y="2834640"/>
            <a:ext cx="146304" cy="14630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748272" y="2788920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7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primary/foreign keys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510528" y="3163824"/>
            <a:ext cx="146304" cy="14630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748272" y="311810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7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Infers join relationships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510528" y="3493008"/>
            <a:ext cx="146304" cy="14630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748272" y="3447288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7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table grain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510528" y="3822192"/>
            <a:ext cx="146304" cy="14630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748272" y="3776472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7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Enriches with LLM descriptions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510528" y="4151376"/>
            <a:ext cx="146304" cy="14630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748272" y="4105656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7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human approval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510528" y="4480560"/>
            <a:ext cx="146304" cy="14630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748272" y="4434840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7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to semantic layer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37744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C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Progress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production sprints complete. Platform is live and demonstrable today.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84048" y="1234440"/>
            <a:ext cx="4023360" cy="166420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62656" y="1399032"/>
            <a:ext cx="1280160" cy="274320"/>
          </a:xfrm>
          <a:prstGeom prst="roundRect">
            <a:avLst>
              <a:gd name="adj" fmla="val 233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962656" y="1399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85216" y="1380744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— Demo Foundation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85623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801368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Connection Manager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05740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002536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/connections routes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25856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2203704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3-panel production frontend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459736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2404872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66090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2606040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Engine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08576" y="1234440"/>
            <a:ext cx="4023360" cy="166420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87184" y="1399032"/>
            <a:ext cx="1280160" cy="274320"/>
          </a:xfrm>
          <a:prstGeom prst="roundRect">
            <a:avLst>
              <a:gd name="adj" fmla="val 233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87184" y="1399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809744" y="1380744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Production Core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64608" y="185623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47488" y="1801368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DataProfiler (auto schema analysis)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64608" y="205740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047488" y="2002536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ConversationStore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64608" y="225856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047488" y="2203704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Snowflake, BigQuery, Redshift adapters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64608" y="2459736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047488" y="2404872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new chart types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64608" y="266090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047488" y="2606040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DuckDB/Snowflake/BQ dialect support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84048" y="3063240"/>
            <a:ext cx="4023360" cy="166420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962656" y="3227832"/>
            <a:ext cx="1280160" cy="274320"/>
          </a:xfrm>
          <a:prstGeom prst="roundRect">
            <a:avLst>
              <a:gd name="adj" fmla="val 2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962656" y="32278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585216" y="3209544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— Feature Depth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0080" y="368503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22960" y="3630168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streaming responses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0080" y="38862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22960" y="3831336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insight narration depth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0080" y="408736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22960" y="4032504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Multi-visualization responses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0080" y="428853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22960" y="4233672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refresh API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0080" y="448970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22960" y="4434840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JWT role enforcement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08576" y="3063240"/>
            <a:ext cx="4023360" cy="166420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187184" y="3227832"/>
            <a:ext cx="1280160" cy="274320"/>
          </a:xfrm>
          <a:prstGeom prst="roundRect">
            <a:avLst>
              <a:gd name="adj" fmla="val 23333"/>
            </a:avLst>
          </a:prstGeom>
          <a:solidFill>
            <a:srgbClr val="7A8DB0"/>
          </a:solidFill>
          <a:ln w="12700">
            <a:solidFill>
              <a:srgbClr val="7A8DB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187184" y="32278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4809744" y="3209544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P3–P7 Roadmap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4864608" y="3685032"/>
            <a:ext cx="91440" cy="91440"/>
          </a:xfrm>
          <a:prstGeom prst="ellipse">
            <a:avLst/>
          </a:prstGeom>
          <a:solidFill>
            <a:srgbClr val="7A8DB0"/>
          </a:solidFill>
          <a:ln w="12700">
            <a:solidFill>
              <a:srgbClr val="7A8DB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047488" y="3630168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Graph (P3)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864608" y="3886200"/>
            <a:ext cx="91440" cy="91440"/>
          </a:xfrm>
          <a:prstGeom prst="ellipse">
            <a:avLst/>
          </a:prstGeom>
          <a:solidFill>
            <a:srgbClr val="7A8DB0"/>
          </a:solidFill>
          <a:ln w="12700">
            <a:solidFill>
              <a:srgbClr val="7A8DB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047488" y="3831336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Engine V2 (P3)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864608" y="4087368"/>
            <a:ext cx="91440" cy="91440"/>
          </a:xfrm>
          <a:prstGeom prst="ellipse">
            <a:avLst/>
          </a:prstGeom>
          <a:solidFill>
            <a:srgbClr val="7A8DB0"/>
          </a:solidFill>
          <a:ln w="12700">
            <a:solidFill>
              <a:srgbClr val="7A8DB0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047488" y="4032504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Agent (P4)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864608" y="4288536"/>
            <a:ext cx="91440" cy="91440"/>
          </a:xfrm>
          <a:prstGeom prst="ellipse">
            <a:avLst/>
          </a:prstGeom>
          <a:solidFill>
            <a:srgbClr val="7A8DB0"/>
          </a:solidFill>
          <a:ln w="12700">
            <a:solidFill>
              <a:srgbClr val="7A8DB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047488" y="4233672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IR (P4)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864608" y="4489704"/>
            <a:ext cx="91440" cy="91440"/>
          </a:xfrm>
          <a:prstGeom prst="ellipse">
            <a:avLst/>
          </a:prstGeom>
          <a:solidFill>
            <a:srgbClr val="7A8DB0"/>
          </a:solidFill>
          <a:ln w="12700">
            <a:solidFill>
              <a:srgbClr val="7A8DB0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047488" y="4434840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hardening (P5–P7)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182880"/>
            <a:ext cx="3474720" cy="3474720"/>
          </a:xfrm>
          <a:prstGeom prst="ellipse">
            <a:avLst/>
          </a:prstGeom>
          <a:solidFill>
            <a:srgbClr val="172A44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37744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Landscape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TachyonIQ addresses gaps that no existing product fully covers.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8321040" cy="402336"/>
          </a:xfrm>
          <a:prstGeom prst="roundRect">
            <a:avLst>
              <a:gd name="adj" fmla="val 18182"/>
            </a:avLst>
          </a:prstGeom>
          <a:solidFill>
            <a:srgbClr val="1E3455"/>
          </a:solidFill>
          <a:ln w="12700">
            <a:solidFill>
              <a:srgbClr val="1E34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4632" y="124358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231136" y="124358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Graph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124358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Multi-DB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489704" y="124358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Engine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961888" y="124358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Auto-Onboarding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434072" y="124358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1682496"/>
            <a:ext cx="8321040" cy="530352"/>
          </a:xfrm>
          <a:prstGeom prst="roundRect">
            <a:avLst>
              <a:gd name="adj" fmla="val 12069"/>
            </a:avLst>
          </a:prstGeom>
          <a:solidFill>
            <a:srgbClr val="0E3A2E"/>
          </a:solidFill>
          <a:ln w="12700">
            <a:solidFill>
              <a:srgbClr val="0E3A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177393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TachyonIQ  ⭐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157984" y="177393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447288" y="177393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6+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416552" y="177393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888736" y="177393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Auto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360920" y="177393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2276856"/>
            <a:ext cx="8321040" cy="530352"/>
          </a:xfrm>
          <a:prstGeom prst="roundRect">
            <a:avLst>
              <a:gd name="adj" fmla="val 12069"/>
            </a:avLst>
          </a:prstGeom>
          <a:solidFill>
            <a:srgbClr val="12243B"/>
          </a:solidFill>
          <a:ln w="12700">
            <a:solidFill>
              <a:srgbClr val="1224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236829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Genie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157984" y="236829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447288" y="236829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Unity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416552" y="236829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Basic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888736" y="236829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Manual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360920" y="236829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2871216"/>
            <a:ext cx="8321040" cy="530352"/>
          </a:xfrm>
          <a:prstGeom prst="roundRect">
            <a:avLst>
              <a:gd name="adj" fmla="val 12069"/>
            </a:avLst>
          </a:prstGeom>
          <a:solidFill>
            <a:srgbClr val="172A44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02920" y="296265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ThoughtSpot Spotter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2157984" y="296265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3447288" y="296265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Few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416552" y="29626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Basic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888736" y="29626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Manual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360920" y="296265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11480" y="3465576"/>
            <a:ext cx="8321040" cy="530352"/>
          </a:xfrm>
          <a:prstGeom prst="roundRect">
            <a:avLst>
              <a:gd name="adj" fmla="val 12069"/>
            </a:avLst>
          </a:prstGeom>
          <a:solidFill>
            <a:srgbClr val="12243B"/>
          </a:solidFill>
          <a:ln w="12700">
            <a:solidFill>
              <a:srgbClr val="12243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02920" y="3557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Cortex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2157984" y="355701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3447288" y="355701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Only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416552" y="355701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Basic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5888736" y="355701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Manual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360920" y="3557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11480" y="4059936"/>
            <a:ext cx="8321040" cy="530352"/>
          </a:xfrm>
          <a:prstGeom prst="roundRect">
            <a:avLst>
              <a:gd name="adj" fmla="val 12069"/>
            </a:avLst>
          </a:prstGeom>
          <a:solidFill>
            <a:srgbClr val="172A44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02920" y="415137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Tellius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2157984" y="415137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Partial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3447288" y="415137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Few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4416552" y="415137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Good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5888736" y="415137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Manual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7360920" y="415137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3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37744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C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Principles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V2 design is built on five non-negotiable engineering principles.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832104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29844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1316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81912" y="12801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Reasons, Never Executes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581912" y="15727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selects methods, writes plans, and explains results. Python and SQL execute deterministically under policy enforcement.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1938528"/>
            <a:ext cx="832104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48640" y="204825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069848" y="20665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🔁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81912" y="20299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Is Reproducible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581912" y="232257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the same question and data, TachyonIQ produces the same answer. No stochastic execution paths in the analytics layer.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688336"/>
            <a:ext cx="832104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48640" y="279806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069848" y="2816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81912" y="27797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an Invariant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581912" y="307238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SQLValidator is inside the execution loop, not before or after. It can never be bypassed, moved, or disabled by any input.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3438144"/>
            <a:ext cx="832104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48640" y="354787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069848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📎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581912" y="35295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over Assertion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581912" y="382219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without evidence are disallowed. Every metric traces to a calculation, a query, a source table, and a statistical test.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4187952"/>
            <a:ext cx="832104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548640" y="42976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069848" y="4315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581912" y="42793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 by Default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581912" y="457200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D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is routed through a budget controller. Expensive models only run on complex questions. Simple queries use fast models.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474720"/>
            <a:ext cx="2743200" cy="2743200"/>
          </a:xfrm>
          <a:prstGeom prst="ellipse">
            <a:avLst/>
          </a:prstGeom>
          <a:solidFill>
            <a:srgbClr val="172A44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37744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0467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sprint is underway. We need architectural approval to proceed with P3 (Evidence Graph + Semantic Engine V2).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5029200" cy="3675888"/>
          </a:xfrm>
          <a:prstGeom prst="roundRect">
            <a:avLst>
              <a:gd name="adj" fmla="val 3483"/>
            </a:avLst>
          </a:prstGeom>
          <a:solidFill>
            <a:srgbClr val="172A44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298448"/>
            <a:ext cx="1645920" cy="274320"/>
          </a:xfrm>
          <a:prstGeom prst="roundRect">
            <a:avLst>
              <a:gd name="adj" fmla="val 2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2984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IN PROGRESS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359152" y="12801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— Feature Depth Sprint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1810512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173736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7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Streaming (GET /query/stream)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60520" y="1737360"/>
            <a:ext cx="1097280" cy="274320"/>
          </a:xfrm>
          <a:prstGeom prst="roundRect">
            <a:avLst>
              <a:gd name="adj" fmla="val 23333"/>
            </a:avLst>
          </a:prstGeom>
          <a:solidFill>
            <a:srgbClr val="1E3455"/>
          </a:solidFill>
          <a:ln w="12700">
            <a:solidFill>
              <a:srgbClr val="1E34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6052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6928" y="2249424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17627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7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Insight Narration Depth (key findings)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60520" y="2176272"/>
            <a:ext cx="1097280" cy="274320"/>
          </a:xfrm>
          <a:prstGeom prst="roundRect">
            <a:avLst>
              <a:gd name="adj" fmla="val 23333"/>
            </a:avLst>
          </a:prstGeom>
          <a:solidFill>
            <a:srgbClr val="1E3455"/>
          </a:solidFill>
          <a:ln w="12700">
            <a:solidFill>
              <a:srgbClr val="1E345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60520" y="21762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66928" y="2688336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261518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7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Multi-Visualization per response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60520" y="2615184"/>
            <a:ext cx="1097280" cy="274320"/>
          </a:xfrm>
          <a:prstGeom prst="roundRect">
            <a:avLst>
              <a:gd name="adj" fmla="val 23333"/>
            </a:avLst>
          </a:prstGeom>
          <a:solidFill>
            <a:srgbClr val="1E3455"/>
          </a:solidFill>
          <a:ln w="12700">
            <a:solidFill>
              <a:srgbClr val="1E345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60520" y="26151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" y="312724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305409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7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in-process OLAP for ResultAnalyser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60520" y="3054096"/>
            <a:ext cx="1097280" cy="274320"/>
          </a:xfrm>
          <a:prstGeom prst="roundRect">
            <a:avLst>
              <a:gd name="adj" fmla="val 23333"/>
            </a:avLst>
          </a:prstGeom>
          <a:solidFill>
            <a:srgbClr val="1E3455"/>
          </a:solidFill>
          <a:ln w="12700">
            <a:solidFill>
              <a:srgbClr val="1E345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60520" y="30540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66928" y="3566160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349300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7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Refresh API (POST /connections/refresh)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160520" y="3493008"/>
            <a:ext cx="1097280" cy="274320"/>
          </a:xfrm>
          <a:prstGeom prst="roundRect">
            <a:avLst>
              <a:gd name="adj" fmla="val 23333"/>
            </a:avLst>
          </a:prstGeom>
          <a:solidFill>
            <a:srgbClr val="1E3455"/>
          </a:solidFill>
          <a:ln w="12700">
            <a:solidFill>
              <a:srgbClr val="1E345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160520" y="34930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" y="4005072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393192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7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Layer — JWT → role → ConnectionPolicy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160520" y="3931920"/>
            <a:ext cx="1097280" cy="274320"/>
          </a:xfrm>
          <a:prstGeom prst="roundRect">
            <a:avLst>
              <a:gd name="adj" fmla="val 23333"/>
            </a:avLst>
          </a:prstGeom>
          <a:solidFill>
            <a:srgbClr val="1E3455"/>
          </a:solidFill>
          <a:ln w="12700">
            <a:solidFill>
              <a:srgbClr val="1E345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160520" y="3931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4443984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2960" y="437083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7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Audit Logging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160520" y="4370832"/>
            <a:ext cx="1097280" cy="274320"/>
          </a:xfrm>
          <a:prstGeom prst="roundRect">
            <a:avLst>
              <a:gd name="adj" fmla="val 23333"/>
            </a:avLst>
          </a:prstGeom>
          <a:solidFill>
            <a:srgbClr val="1E3455"/>
          </a:solidFill>
          <a:ln w="12700">
            <a:solidFill>
              <a:srgbClr val="1E345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160520" y="43708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623560" y="1188720"/>
            <a:ext cx="3154680" cy="3675888"/>
          </a:xfrm>
          <a:prstGeom prst="roundRect">
            <a:avLst>
              <a:gd name="adj" fmla="val 4058"/>
            </a:avLst>
          </a:prstGeom>
          <a:solidFill>
            <a:srgbClr val="0E3A2E"/>
          </a:solidFill>
          <a:ln w="15240">
            <a:solidFill>
              <a:srgbClr val="00C89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06440" y="1316736"/>
            <a:ext cx="1645920" cy="274320"/>
          </a:xfrm>
          <a:prstGeom prst="roundRect">
            <a:avLst>
              <a:gd name="adj" fmla="val 23333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806440" y="13167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APPROVAL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5806440" y="17373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— Analytical Core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779008" y="2231136"/>
            <a:ext cx="128016" cy="128016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998464" y="21762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Graph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779008" y="2578608"/>
            <a:ext cx="128016" cy="128016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998464" y="252374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Engine V2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779008" y="2926080"/>
            <a:ext cx="128016" cy="128016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998464" y="287121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HybridRetriever (vector + BM25)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779008" y="3273552"/>
            <a:ext cx="128016" cy="128016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998464" y="321868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SQLGlot dialect transpiler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779008" y="3621024"/>
            <a:ext cx="128016" cy="128016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998464" y="35661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Agent State Machine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779008" y="3968496"/>
            <a:ext cx="128016" cy="128016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998464" y="39136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Validation (9 layers)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779008" y="4315968"/>
            <a:ext cx="128016" cy="128016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998464" y="426110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/ Why Engine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572000" cy="4572000"/>
          </a:xfrm>
          <a:prstGeom prst="ellipse">
            <a:avLst/>
          </a:prstGeom>
          <a:solidFill>
            <a:srgbClr val="172A44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1371600" cy="1371600"/>
          </a:xfrm>
          <a:prstGeom prst="ellipse">
            <a:avLst/>
          </a:prstGeom>
          <a:solidFill>
            <a:srgbClr val="172A44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37744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8321040" cy="1115568"/>
          </a:xfrm>
          <a:prstGeom prst="roundRect">
            <a:avLst>
              <a:gd name="adj" fmla="val 11475"/>
            </a:avLst>
          </a:prstGeom>
          <a:solidFill>
            <a:srgbClr val="172A44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1417320"/>
            <a:ext cx="438912" cy="43891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" y="1417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1225296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built a working platform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15568" y="1609344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and P1 are live. The system processes natural language queries, supports 6 databases, and returns validated answers with chart generation — today.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359152"/>
            <a:ext cx="8321040" cy="1115568"/>
          </a:xfrm>
          <a:prstGeom prst="roundRect">
            <a:avLst>
              <a:gd name="adj" fmla="val 11475"/>
            </a:avLst>
          </a:prstGeom>
          <a:solidFill>
            <a:srgbClr val="172A44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2679192"/>
            <a:ext cx="438912" cy="43891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0352" y="26791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" y="2487168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architecture is designed and documented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2871216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2,800-line architecture doc covers every component: Evidence Graph, Analytical IR, 11 tools, 9 validation layers, security invariants, and a P0–P7 roadmap.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621024"/>
            <a:ext cx="8321040" cy="1115568"/>
          </a:xfrm>
          <a:prstGeom prst="roundRect">
            <a:avLst>
              <a:gd name="adj" fmla="val 11475"/>
            </a:avLst>
          </a:prstGeom>
          <a:solidFill>
            <a:srgbClr val="172A44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3941064"/>
            <a:ext cx="438912" cy="43891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0352" y="39410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C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" y="374904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approval to proceed with P3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" y="413308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implements the analytical core (Evidence Graph, Semantic Engine V2, Investigation Agent). We are ready to begin as soon as the V2 architecture is approved.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4645152"/>
            <a:ext cx="8321040" cy="329184"/>
          </a:xfrm>
          <a:prstGeom prst="roundRect">
            <a:avLst>
              <a:gd name="adj" fmla="val 27778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11480" y="4645152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 doc: TachyonIQ_ARCHITECTURE_V2.md  ·  Questions? shivam.kumar@tachyontech.com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TachyonIQ — Manager Briefing</dc:title>
  <dc:subject>PptxGenJS Presentation</dc:subject>
  <dc:creator>Shivam Kumar</dc:creator>
  <cp:lastModifiedBy>Shivam Kumar</cp:lastModifiedBy>
  <cp:revision>1</cp:revision>
  <dcterms:created xsi:type="dcterms:W3CDTF">2026-09-07T08:00:12Z</dcterms:created>
  <dcterms:modified xsi:type="dcterms:W3CDTF">2026-09-07T08:00:12Z</dcterms:modified>
</cp:coreProperties>
</file>